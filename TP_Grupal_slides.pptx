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64592" cy="6858000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1D2433"/>
                </a:solidFill>
                <a:latin typeface="Arial"/>
              </a:rPr>
              <a:t>EDA — TMDB Movies Dataset 2023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Arial"/>
              </a:rPr>
              <a:t>Análisis exploratorio y preparación de datos (Clases 3–5) · popularity como target potencial de clasificación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2560320" cy="12344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2286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0F766E"/>
                </a:solidFill>
                <a:latin typeface="Arial"/>
              </a:rPr>
              <a:t>1.499.934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1460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D2433"/>
                </a:solidFill>
                <a:latin typeface="Arial"/>
              </a:rPr>
              <a:t>películas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737360"/>
            <a:ext cx="2560320" cy="12344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1828800"/>
            <a:ext cx="2286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7C3AED"/>
                </a:solidFill>
                <a:latin typeface="Arial"/>
              </a:rPr>
              <a:t>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251460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D2433"/>
                </a:solidFill>
                <a:latin typeface="Arial"/>
              </a:rPr>
              <a:t>variables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79" y="1737360"/>
            <a:ext cx="2560320" cy="12344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59" y="1828800"/>
            <a:ext cx="2286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D97706"/>
                </a:solidFill>
                <a:latin typeface="Arial"/>
              </a:rPr>
              <a:t>19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59" y="251460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D2433"/>
                </a:solidFill>
                <a:latin typeface="Arial"/>
              </a:rPr>
              <a:t>géneros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15399" y="1737360"/>
            <a:ext cx="2560320" cy="12344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279" y="1828800"/>
            <a:ext cx="2286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475569"/>
                </a:solidFill>
                <a:latin typeface="Arial"/>
              </a:rPr>
              <a:t>6.16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79" y="251460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D2433"/>
                </a:solidFill>
                <a:latin typeface="Arial"/>
              </a:rPr>
              <a:t>rating prom.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291840"/>
            <a:ext cx="5394960" cy="310896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42900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F766E"/>
                </a:solidFill>
                <a:latin typeface="Arial"/>
              </a:rPr>
              <a:t>El dataset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023360"/>
            <a:ext cx="5029200" cy="2240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50" b="1">
                <a:solidFill>
                  <a:srgbClr val="0F766E"/>
                </a:solidFill>
                <a:latin typeface="Arial"/>
              </a:rPr>
              <a:t>•  </a:t>
            </a:r>
            <a:r>
              <a:rPr sz="1350" b="0">
                <a:solidFill>
                  <a:srgbClr val="1D2433"/>
                </a:solidFill>
                <a:latin typeface="Arial"/>
              </a:rPr>
              <a:t>TMDB Movies 2023 (fuente pública, Kaggle).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50" b="1">
                <a:solidFill>
                  <a:srgbClr val="0F766E"/>
                </a:solidFill>
                <a:latin typeface="Arial"/>
              </a:rPr>
              <a:t>•  </a:t>
            </a:r>
            <a:r>
              <a:rPr sz="1350" b="1">
                <a:solidFill>
                  <a:srgbClr val="1D2433"/>
                </a:solidFill>
                <a:latin typeface="Arial"/>
              </a:rPr>
              <a:t>Granularidad:</a:t>
            </a:r>
            <a:r>
              <a:rPr sz="1350" b="0">
                <a:solidFill>
                  <a:srgbClr val="1D2433"/>
                </a:solidFill>
                <a:latin typeface="Arial"/>
              </a:rPr>
              <a:t> 1 fila = 1 película, unidas por id.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50" b="1">
                <a:solidFill>
                  <a:srgbClr val="0F766E"/>
                </a:solidFill>
                <a:latin typeface="Arial"/>
              </a:rPr>
              <a:t>•  </a:t>
            </a:r>
            <a:r>
              <a:rPr sz="1350" b="1">
                <a:solidFill>
                  <a:srgbClr val="1D2433"/>
                </a:solidFill>
                <a:latin typeface="Arial"/>
              </a:rPr>
              <a:t>Numéricas:</a:t>
            </a:r>
            <a:r>
              <a:rPr sz="1350" b="0">
                <a:solidFill>
                  <a:srgbClr val="1D2433"/>
                </a:solidFill>
                <a:latin typeface="Arial"/>
              </a:rPr>
              <a:t> budget, revenue, runtime, votos, popularity.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50" b="1">
                <a:solidFill>
                  <a:srgbClr val="0F766E"/>
                </a:solidFill>
                <a:latin typeface="Arial"/>
              </a:rPr>
              <a:t>•  </a:t>
            </a:r>
            <a:r>
              <a:rPr sz="1350" b="1">
                <a:solidFill>
                  <a:srgbClr val="1D2433"/>
                </a:solidFill>
                <a:latin typeface="Arial"/>
              </a:rPr>
              <a:t>Categóricas:</a:t>
            </a:r>
            <a:r>
              <a:rPr sz="1350" b="0">
                <a:solidFill>
                  <a:srgbClr val="1D2433"/>
                </a:solidFill>
                <a:latin typeface="Arial"/>
              </a:rPr>
              <a:t> género, idioma, estado.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50" b="1">
                <a:solidFill>
                  <a:srgbClr val="0F766E"/>
                </a:solidFill>
                <a:latin typeface="Arial"/>
              </a:rPr>
              <a:t>•  </a:t>
            </a:r>
            <a:r>
              <a:rPr sz="1350" b="1">
                <a:solidFill>
                  <a:srgbClr val="1D2433"/>
                </a:solidFill>
                <a:latin typeface="Arial"/>
              </a:rPr>
              <a:t>genres:</a:t>
            </a:r>
            <a:r>
              <a:rPr sz="1350" b="0">
                <a:solidFill>
                  <a:srgbClr val="1D2433"/>
                </a:solidFill>
                <a:latin typeface="Arial"/>
              </a:rPr>
              <a:t> multivariado, coma-separado (1-a-muchos).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291840"/>
            <a:ext cx="5394960" cy="3108960"/>
          </a:xfrm>
          <a:prstGeom prst="roundRect">
            <a:avLst/>
          </a:prstGeom>
          <a:solidFill>
            <a:srgbClr val="FDF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342900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D97706"/>
                </a:solidFill>
                <a:latin typeface="Arial"/>
              </a:rPr>
              <a:t>Desafíos a priori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023360"/>
            <a:ext cx="5029200" cy="2240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50" b="1">
                <a:solidFill>
                  <a:srgbClr val="D97706"/>
                </a:solidFill>
                <a:latin typeface="Arial"/>
              </a:rPr>
              <a:t>•  </a:t>
            </a:r>
            <a:r>
              <a:rPr sz="1350" b="1">
                <a:solidFill>
                  <a:srgbClr val="1D2433"/>
                </a:solidFill>
                <a:latin typeface="Arial"/>
              </a:rPr>
              <a:t>Escala:</a:t>
            </a:r>
            <a:r>
              <a:rPr sz="1350" b="0">
                <a:solidFill>
                  <a:srgbClr val="1D2433"/>
                </a:solidFill>
                <a:latin typeface="Arial"/>
              </a:rPr>
              <a:t> 1,5 M de filas → cómputo vectorizado sobre el total.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50" b="1">
                <a:solidFill>
                  <a:srgbClr val="D97706"/>
                </a:solidFill>
                <a:latin typeface="Arial"/>
              </a:rPr>
              <a:t>•  </a:t>
            </a:r>
            <a:r>
              <a:rPr sz="1350" b="1">
                <a:solidFill>
                  <a:srgbClr val="1D2433"/>
                </a:solidFill>
                <a:latin typeface="Arial"/>
              </a:rPr>
              <a:t>Nulos masivos:</a:t>
            </a:r>
            <a:r>
              <a:rPr sz="1350" b="0">
                <a:solidFill>
                  <a:srgbClr val="1D2433"/>
                </a:solidFill>
                <a:latin typeface="Arial"/>
              </a:rPr>
              <a:t> revenue 98%, budget 94%.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50" b="1">
                <a:solidFill>
                  <a:srgbClr val="D97706"/>
                </a:solidFill>
                <a:latin typeface="Arial"/>
              </a:rPr>
              <a:t>•  </a:t>
            </a:r>
            <a:r>
              <a:rPr sz="1350" b="0">
                <a:solidFill>
                  <a:srgbClr val="1D2433"/>
                </a:solidFill>
                <a:latin typeface="Arial"/>
              </a:rPr>
              <a:t>Centinelas (0 / negativos) que codifican 'sin dato'.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50" b="1">
                <a:solidFill>
                  <a:srgbClr val="D97706"/>
                </a:solidFill>
                <a:latin typeface="Arial"/>
              </a:rPr>
              <a:t>•  </a:t>
            </a:r>
            <a:r>
              <a:rPr sz="1350" b="1">
                <a:solidFill>
                  <a:srgbClr val="1D2433"/>
                </a:solidFill>
                <a:latin typeface="Arial"/>
              </a:rPr>
              <a:t>Fuerte presencia de outliers:</a:t>
            </a:r>
            <a:r>
              <a:rPr sz="1350" b="0">
                <a:solidFill>
                  <a:srgbClr val="1D2433"/>
                </a:solidFill>
                <a:latin typeface="Arial"/>
              </a:rPr>
              <a:t> colas largas en budget, revenue, vote_count y popularity (asimetría extrema).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64592" cy="685800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1D2433"/>
                </a:solidFill>
                <a:latin typeface="Arial"/>
              </a:rPr>
              <a:t>Asociaciones y pruebas de hipótesis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Arial"/>
              </a:rPr>
              <a:t>Asociación, no causalidad · Pearson (lineal) y Spearman (monótona) · α = 0.05</a:t>
            </a:r>
          </a:p>
        </p:txBody>
      </p:sp>
      <p:pic>
        <p:nvPicPr>
          <p:cNvPr id="5" name="Picture 4" descr="cor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00200"/>
            <a:ext cx="5760720" cy="2391898"/>
          </a:xfrm>
          <a:prstGeom prst="rect">
            <a:avLst/>
          </a:prstGeom>
        </p:spPr>
      </p:pic>
      <p:pic>
        <p:nvPicPr>
          <p:cNvPr id="6" name="Picture 5" descr="tes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14800"/>
            <a:ext cx="5760720" cy="167215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92240" y="1737360"/>
            <a:ext cx="5212080" cy="45720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20840" y="1874519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D97706"/>
                </a:solidFill>
                <a:latin typeface="Arial"/>
              </a:rPr>
              <a:t>Pruebas de hipótesis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2514600"/>
            <a:ext cx="484632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 b="1">
                <a:solidFill>
                  <a:srgbClr val="D97706"/>
                </a:solidFill>
                <a:latin typeface="Arial"/>
              </a:rPr>
              <a:t>•  </a:t>
            </a:r>
            <a:r>
              <a:rPr sz="1300" b="1">
                <a:solidFill>
                  <a:srgbClr val="1D2433"/>
                </a:solidFill>
                <a:latin typeface="Arial"/>
              </a:rPr>
              <a:t>H0:</a:t>
            </a:r>
            <a:r>
              <a:rPr sz="1300" b="0">
                <a:solidFill>
                  <a:srgbClr val="1D2433"/>
                </a:solidFill>
                <a:latin typeface="Arial"/>
              </a:rPr>
              <a:t> r = 0 (sin asociación) · H1: r ≠ 0.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 b="1">
                <a:solidFill>
                  <a:srgbClr val="D97706"/>
                </a:solidFill>
                <a:latin typeface="Arial"/>
              </a:rPr>
              <a:t>•  </a:t>
            </a:r>
            <a:r>
              <a:rPr sz="1300" b="0">
                <a:solidFill>
                  <a:srgbClr val="1D2433"/>
                </a:solidFill>
                <a:latin typeface="Arial"/>
              </a:rPr>
              <a:t>Los 5 pares dan p &lt; 0.001 (≪ α): se rechaza H0 en todos → asociación estadísticamente significativa.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 b="1">
                <a:solidFill>
                  <a:srgbClr val="D97706"/>
                </a:solidFill>
                <a:latin typeface="Arial"/>
              </a:rPr>
              <a:t>•  </a:t>
            </a:r>
            <a:r>
              <a:rPr sz="1300" b="1">
                <a:solidFill>
                  <a:srgbClr val="1D2433"/>
                </a:solidFill>
                <a:latin typeface="Arial"/>
              </a:rPr>
              <a:t>La más fuerte:</a:t>
            </a:r>
            <a:r>
              <a:rPr sz="1300" b="0">
                <a:solidFill>
                  <a:srgbClr val="1D2433"/>
                </a:solidFill>
                <a:latin typeface="Arial"/>
              </a:rPr>
              <a:t> budget–revenue (Spearman 0.90, Pearson 0.56: la asimetría hace que Pearson la subestime).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 b="1">
                <a:solidFill>
                  <a:srgbClr val="D97706"/>
                </a:solidFill>
                <a:latin typeface="Arial"/>
              </a:rPr>
              <a:t>•  </a:t>
            </a:r>
            <a:r>
              <a:rPr sz="1300" b="1">
                <a:solidFill>
                  <a:srgbClr val="1D2433"/>
                </a:solidFill>
                <a:latin typeface="Arial"/>
              </a:rPr>
              <a:t>t-test género→vote_average:</a:t>
            </a:r>
            <a:r>
              <a:rPr sz="1300" b="0">
                <a:solidFill>
                  <a:srgbClr val="1D2433"/>
                </a:solidFill>
                <a:latin typeface="Arial"/>
              </a:rPr>
              <a:t> p ≈ 0 → los documentales puntúan más alto (asociación, no causa).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 b="1">
                <a:solidFill>
                  <a:srgbClr val="D97706"/>
                </a:solidFill>
                <a:latin typeface="Arial"/>
              </a:rPr>
              <a:t>•  </a:t>
            </a:r>
            <a:r>
              <a:rPr sz="1300" b="0">
                <a:solidFill>
                  <a:srgbClr val="1D2433"/>
                </a:solidFill>
                <a:latin typeface="Arial"/>
              </a:rPr>
              <a:t>Significación estadística ≠ causalidad.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64592" cy="68580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1D2433"/>
                </a:solidFill>
                <a:latin typeface="Arial"/>
              </a:rPr>
              <a:t>Calidad de datos: faltantes y su mecanismo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Arial"/>
              </a:rPr>
              <a:t>Centinelas (0 / negativos) marcados como NaN antes de analizar</a:t>
            </a:r>
          </a:p>
        </p:txBody>
      </p:sp>
      <p:pic>
        <p:nvPicPr>
          <p:cNvPr id="5" name="Picture 4" descr="nul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459736"/>
            <a:ext cx="5486400" cy="312684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92240" y="1737360"/>
            <a:ext cx="5212080" cy="45720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20840" y="1874519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F766E"/>
                </a:solidFill>
                <a:latin typeface="Arial"/>
              </a:rPr>
              <a:t>Mecanismos de faltantes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0840" y="2514600"/>
            <a:ext cx="4754880" cy="3703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 b="1">
                <a:solidFill>
                  <a:srgbClr val="0F766E"/>
                </a:solidFill>
                <a:latin typeface="Arial"/>
              </a:rPr>
              <a:t>•  </a:t>
            </a:r>
            <a:r>
              <a:rPr sz="1300" b="1">
                <a:solidFill>
                  <a:srgbClr val="1D2433"/>
                </a:solidFill>
                <a:latin typeface="Arial"/>
              </a:rPr>
              <a:t>runtime ~32%:</a:t>
            </a:r>
            <a:r>
              <a:rPr sz="1300" b="0">
                <a:solidFill>
                  <a:srgbClr val="1D2433"/>
                </a:solidFill>
                <a:latin typeface="Arial"/>
              </a:rPr>
              <a:t> MCAR/MAR → imputable por mediana (fit en train).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 b="1">
                <a:solidFill>
                  <a:srgbClr val="0F766E"/>
                </a:solidFill>
                <a:latin typeface="Arial"/>
              </a:rPr>
              <a:t>•  </a:t>
            </a:r>
            <a:r>
              <a:rPr sz="1300" b="1">
                <a:solidFill>
                  <a:srgbClr val="1D2433"/>
                </a:solidFill>
                <a:latin typeface="Arial"/>
              </a:rPr>
              <a:t>budget 94% / revenue 98%:</a:t>
            </a:r>
            <a:r>
              <a:rPr sz="1300" b="0">
                <a:solidFill>
                  <a:srgbClr val="1D2433"/>
                </a:solidFill>
                <a:latin typeface="Arial"/>
              </a:rPr>
              <a:t> estructural → no se imputan; se agrega indicador tiene_budget / tiene_revenue.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 b="1">
                <a:solidFill>
                  <a:srgbClr val="0F766E"/>
                </a:solidFill>
                <a:latin typeface="Arial"/>
              </a:rPr>
              <a:t>•  </a:t>
            </a:r>
            <a:r>
              <a:rPr sz="1300" b="1">
                <a:solidFill>
                  <a:srgbClr val="1D2433"/>
                </a:solidFill>
                <a:latin typeface="Arial"/>
              </a:rPr>
              <a:t>vote_average 76%:</a:t>
            </a:r>
            <a:r>
              <a:rPr sz="1300" b="0">
                <a:solidFill>
                  <a:srgbClr val="1D2433"/>
                </a:solidFill>
                <a:latin typeface="Arial"/>
              </a:rPr>
              <a:t> falta exactamente cuando vote_count = 0 (estructural).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 b="1">
                <a:solidFill>
                  <a:srgbClr val="0F766E"/>
                </a:solidFill>
                <a:latin typeface="Arial"/>
              </a:rPr>
              <a:t>•  </a:t>
            </a:r>
            <a:r>
              <a:rPr sz="1300" b="1">
                <a:solidFill>
                  <a:srgbClr val="1D2433"/>
                </a:solidFill>
                <a:latin typeface="Arial"/>
              </a:rPr>
              <a:t>genres 45%:</a:t>
            </a:r>
            <a:r>
              <a:rPr sz="1300" b="0">
                <a:solidFill>
                  <a:srgbClr val="1D2433"/>
                </a:solidFill>
                <a:latin typeface="Arial"/>
              </a:rPr>
              <a:t> se marca con categoría propia 'SIN_GÉNERO'.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 b="1">
                <a:solidFill>
                  <a:srgbClr val="0F766E"/>
                </a:solidFill>
                <a:latin typeface="Arial"/>
              </a:rPr>
              <a:t>•  </a:t>
            </a:r>
            <a:r>
              <a:rPr sz="1300" b="0">
                <a:solidFill>
                  <a:srgbClr val="1D2433"/>
                </a:solidFill>
                <a:latin typeface="Arial"/>
              </a:rPr>
              <a:t>Regla &gt;70% nulos → no se imputa la columna.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64592" cy="6858000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1D2433"/>
                </a:solidFill>
                <a:latin typeface="Arial"/>
              </a:rPr>
              <a:t>Géneros y conclusiones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Arial"/>
              </a:rPr>
              <a:t>k = 19 géneros · diversidad alta (H/H_max = 0.86)</a:t>
            </a:r>
          </a:p>
        </p:txBody>
      </p:sp>
      <p:pic>
        <p:nvPicPr>
          <p:cNvPr id="5" name="Picture 4" descr="gener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4846320" cy="2654497"/>
          </a:xfrm>
          <a:prstGeom prst="rect">
            <a:avLst/>
          </a:prstGeom>
        </p:spPr>
      </p:pic>
      <p:pic>
        <p:nvPicPr>
          <p:cNvPr id="6" name="Picture 5" descr="remov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297680"/>
            <a:ext cx="5760720" cy="179297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92240" y="1737360"/>
            <a:ext cx="5212080" cy="45720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20840" y="1874519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F766E"/>
                </a:solidFill>
                <a:latin typeface="Arial"/>
              </a:rPr>
              <a:t>Conclusiones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2514600"/>
            <a:ext cx="4754880" cy="3703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250" b="1">
                <a:solidFill>
                  <a:srgbClr val="0F766E"/>
                </a:solidFill>
                <a:latin typeface="Arial"/>
              </a:rPr>
              <a:t>•  </a:t>
            </a:r>
            <a:r>
              <a:rPr sz="1250" b="1">
                <a:solidFill>
                  <a:srgbClr val="1D2433"/>
                </a:solidFill>
                <a:latin typeface="Arial"/>
              </a:rPr>
              <a:t>Géneros diversos:</a:t>
            </a:r>
            <a:r>
              <a:rPr sz="1250" b="0">
                <a:solidFill>
                  <a:srgbClr val="1D2433"/>
                </a:solidFill>
                <a:latin typeface="Arial"/>
              </a:rPr>
              <a:t> top Drama, Documentary, Comedy; ninguno domina.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250" b="1">
                <a:solidFill>
                  <a:srgbClr val="0F766E"/>
                </a:solidFill>
                <a:latin typeface="Arial"/>
              </a:rPr>
              <a:t>•  </a:t>
            </a:r>
            <a:r>
              <a:rPr sz="1250" b="0">
                <a:solidFill>
                  <a:srgbClr val="1D2433"/>
                </a:solidFill>
                <a:latin typeface="Arial"/>
              </a:rPr>
              <a:t>Faltantes estructurales dominados por finanzas (budget / revenue).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250" b="1">
                <a:solidFill>
                  <a:srgbClr val="0F766E"/>
                </a:solidFill>
                <a:latin typeface="Arial"/>
              </a:rPr>
              <a:t>•  </a:t>
            </a:r>
            <a:r>
              <a:rPr sz="1250" b="1">
                <a:solidFill>
                  <a:srgbClr val="1D2433"/>
                </a:solidFill>
                <a:latin typeface="Arial"/>
              </a:rPr>
              <a:t>Preparación anti-leakage:</a:t>
            </a:r>
            <a:r>
              <a:rPr sz="1250" b="0">
                <a:solidFill>
                  <a:srgbClr val="1D2433"/>
                </a:solidFill>
                <a:latin typeface="Arial"/>
              </a:rPr>
              <a:t> split estratificado por popularity (target potencial), fit-en-train, log1p / capping.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250" b="1">
                <a:solidFill>
                  <a:srgbClr val="0F766E"/>
                </a:solidFill>
                <a:latin typeface="Arial"/>
              </a:rPr>
              <a:t>•  </a:t>
            </a:r>
            <a:r>
              <a:rPr sz="1250" b="0">
                <a:solidFill>
                  <a:srgbClr val="1D2433"/>
                </a:solidFill>
                <a:latin typeface="Arial"/>
              </a:rPr>
              <a:t>185 registros con valores imposibles eliminados: finanzas fuera de rango o runtime imposible.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250" b="1">
                <a:solidFill>
                  <a:srgbClr val="0F766E"/>
                </a:solidFill>
                <a:latin typeface="Arial"/>
              </a:rPr>
              <a:t>•  </a:t>
            </a:r>
            <a:r>
              <a:rPr sz="1250" b="0">
                <a:solidFill>
                  <a:srgbClr val="1D2433"/>
                </a:solidFill>
                <a:latin typeface="Arial"/>
              </a:rPr>
              <a:t>Géneros codificados multi-hot (una película, varios géneros).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64592" cy="68580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1D2433"/>
                </a:solidFill>
                <a:latin typeface="Arial"/>
              </a:rPr>
              <a:t>Preparación de datos: pipeline (Clases 4-5)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Arial"/>
              </a:rPr>
              <a:t>popularity como target potencial · split estratificado · fit en train / transform en test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2560320" cy="12344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2286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0F766E"/>
                </a:solidFill>
                <a:latin typeface="Arial"/>
              </a:rPr>
              <a:t>1.199.797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1460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D2433"/>
                </a:solidFill>
                <a:latin typeface="Arial"/>
              </a:rPr>
              <a:t>train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737360"/>
            <a:ext cx="2560320" cy="12344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1828800"/>
            <a:ext cx="2286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7C3AED"/>
                </a:solidFill>
                <a:latin typeface="Arial"/>
              </a:rPr>
              <a:t>299.952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251460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D2433"/>
                </a:solidFill>
                <a:latin typeface="Arial"/>
              </a:rPr>
              <a:t>test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79" y="1737360"/>
            <a:ext cx="2560320" cy="12344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59" y="1828800"/>
            <a:ext cx="2286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D97706"/>
                </a:solidFill>
                <a:latin typeface="Arial"/>
              </a:rPr>
              <a:t>93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59" y="251460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D2433"/>
                </a:solidFill>
                <a:latin typeface="Arial"/>
              </a:rPr>
              <a:t>columnas finales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15399" y="1737360"/>
            <a:ext cx="2560320" cy="12344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279" y="1828800"/>
            <a:ext cx="2286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475569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79" y="251460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D2433"/>
                </a:solidFill>
                <a:latin typeface="Arial"/>
              </a:rPr>
              <a:t>clases target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291840"/>
            <a:ext cx="5394960" cy="310896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42900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F766E"/>
                </a:solidFill>
                <a:latin typeface="Arial"/>
              </a:rPr>
              <a:t>Pipeline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023360"/>
            <a:ext cx="5029200" cy="2240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 b="1">
                <a:solidFill>
                  <a:srgbClr val="0F766E"/>
                </a:solidFill>
                <a:latin typeface="Arial"/>
              </a:rPr>
              <a:t>•  </a:t>
            </a:r>
            <a:r>
              <a:rPr sz="1300" b="0">
                <a:solidFill>
                  <a:srgbClr val="1D2433"/>
                </a:solidFill>
                <a:latin typeface="Arial"/>
              </a:rPr>
              <a:t>Split estratificado 80/20 por popularity_cat (baja &lt;1 · media 1-10 · alta ≥10; ~83/16/1%).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 b="1">
                <a:solidFill>
                  <a:srgbClr val="0F766E"/>
                </a:solidFill>
                <a:latin typeface="Arial"/>
              </a:rPr>
              <a:t>•  </a:t>
            </a:r>
            <a:r>
              <a:rPr sz="1300" b="1">
                <a:solidFill>
                  <a:srgbClr val="1D2433"/>
                </a:solidFill>
                <a:latin typeface="Arial"/>
              </a:rPr>
              <a:t>Imputación:</a:t>
            </a:r>
            <a:r>
              <a:rPr sz="1300" b="0">
                <a:solidFill>
                  <a:srgbClr val="1D2433"/>
                </a:solidFill>
                <a:latin typeface="Arial"/>
              </a:rPr>
              <a:t> mediana fit-en-train (&gt;70% nulos → no se imputan, quedan tiene_*).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 b="1">
                <a:solidFill>
                  <a:srgbClr val="0F766E"/>
                </a:solidFill>
                <a:latin typeface="Arial"/>
              </a:rPr>
              <a:t>•  </a:t>
            </a:r>
            <a:r>
              <a:rPr sz="1300" b="1">
                <a:solidFill>
                  <a:srgbClr val="1D2433"/>
                </a:solidFill>
                <a:latin typeface="Arial"/>
              </a:rPr>
              <a:t>Outliers:</a:t>
            </a:r>
            <a:r>
              <a:rPr sz="1300" b="0">
                <a:solidFill>
                  <a:srgbClr val="1D2433"/>
                </a:solidFill>
                <a:latin typeface="Arial"/>
              </a:rPr>
              <a:t> log1p (vote_count) + capping p1-p99 (runtime).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 b="1">
                <a:solidFill>
                  <a:srgbClr val="0F766E"/>
                </a:solidFill>
                <a:latin typeface="Arial"/>
              </a:rPr>
              <a:t>•  </a:t>
            </a:r>
            <a:r>
              <a:rPr sz="1300" b="1">
                <a:solidFill>
                  <a:srgbClr val="1D2433"/>
                </a:solidFill>
                <a:latin typeface="Arial"/>
              </a:rPr>
              <a:t>Discretización:</a:t>
            </a:r>
            <a:r>
              <a:rPr sz="1300" b="0">
                <a:solidFill>
                  <a:srgbClr val="1D2433"/>
                </a:solidFill>
                <a:latin typeface="Arial"/>
              </a:rPr>
              <a:t> vote_average con qcut.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 b="1">
                <a:solidFill>
                  <a:srgbClr val="0F766E"/>
                </a:solidFill>
                <a:latin typeface="Arial"/>
              </a:rPr>
              <a:t>•  </a:t>
            </a:r>
            <a:r>
              <a:rPr sz="1300" b="0">
                <a:solidFill>
                  <a:srgbClr val="1D2433"/>
                </a:solidFill>
                <a:latin typeface="Arial"/>
              </a:rPr>
              <a:t>Escalado con Z-score (StandardScaler, fit en train) sobre las 11 numéricas continuas (runtime_cap, vote_count_log, anio, conteos n_* y largos len_*); binarias/OHE y target quedan fuera.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3291840"/>
            <a:ext cx="5394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  <a:latin typeface="Arial"/>
              </a:rPr>
              <a:t>Distribución del target (desbalance)</a:t>
            </a:r>
          </a:p>
        </p:txBody>
      </p:sp>
      <p:pic>
        <p:nvPicPr>
          <p:cNvPr id="21" name="Picture 20" descr="target_bal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3703320"/>
            <a:ext cx="5212080" cy="265727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64592" cy="685800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1D2433"/>
                </a:solidFill>
                <a:latin typeface="Arial"/>
              </a:rPr>
              <a:t>Codificación, features y dataset final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Arial"/>
              </a:rPr>
              <a:t>de 24 columnas crudas a 93 features, con criterio anti-leakage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94960" cy="402336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F766E"/>
                </a:solidFill>
                <a:latin typeface="Arial"/>
              </a:rPr>
              <a:t>Codificación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514600"/>
            <a:ext cx="502920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50" b="1">
                <a:solidFill>
                  <a:srgbClr val="0F766E"/>
                </a:solidFill>
                <a:latin typeface="Arial"/>
              </a:rPr>
              <a:t>•  </a:t>
            </a:r>
            <a:r>
              <a:rPr sz="1350" b="1">
                <a:solidFill>
                  <a:srgbClr val="1D2433"/>
                </a:solidFill>
                <a:latin typeface="Arial"/>
              </a:rPr>
              <a:t>Géneros:</a:t>
            </a:r>
            <a:r>
              <a:rPr sz="1350" b="0">
                <a:solidFill>
                  <a:srgbClr val="1D2433"/>
                </a:solidFill>
                <a:latin typeface="Arial"/>
              </a:rPr>
              <a:t> multi-hot (una película, varios géneros).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50" b="1">
                <a:solidFill>
                  <a:srgbClr val="0F766E"/>
                </a:solidFill>
                <a:latin typeface="Arial"/>
              </a:rPr>
              <a:t>•  </a:t>
            </a:r>
            <a:r>
              <a:rPr sz="1350" b="1">
                <a:solidFill>
                  <a:srgbClr val="1D2433"/>
                </a:solidFill>
                <a:latin typeface="Arial"/>
              </a:rPr>
              <a:t>status:</a:t>
            </a:r>
            <a:r>
              <a:rPr sz="1350" b="0">
                <a:solidFill>
                  <a:srgbClr val="1D2433"/>
                </a:solidFill>
                <a:latin typeface="Arial"/>
              </a:rPr>
              <a:t> OHE 3 vías (Released / In Production / otros).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50" b="1">
                <a:solidFill>
                  <a:srgbClr val="0F766E"/>
                </a:solidFill>
                <a:latin typeface="Arial"/>
              </a:rPr>
              <a:t>•  </a:t>
            </a:r>
            <a:r>
              <a:rPr sz="1350" b="1">
                <a:solidFill>
                  <a:srgbClr val="1D2433"/>
                </a:solidFill>
                <a:latin typeface="Arial"/>
              </a:rPr>
              <a:t>adult:</a:t>
            </a:r>
            <a:r>
              <a:rPr sz="1350" b="0">
                <a:solidFill>
                  <a:srgbClr val="1D2433"/>
                </a:solidFill>
                <a:latin typeface="Arial"/>
              </a:rPr>
              <a:t> a entero (0/1).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50" b="1">
                <a:solidFill>
                  <a:srgbClr val="0F766E"/>
                </a:solidFill>
                <a:latin typeface="Arial"/>
              </a:rPr>
              <a:t>•  </a:t>
            </a:r>
            <a:r>
              <a:rPr sz="1350" b="1">
                <a:solidFill>
                  <a:srgbClr val="1D2433"/>
                </a:solidFill>
                <a:latin typeface="Arial"/>
              </a:rPr>
              <a:t>original_language:</a:t>
            </a:r>
            <a:r>
              <a:rPr sz="1350" b="0">
                <a:solidFill>
                  <a:srgbClr val="1D2433"/>
                </a:solidFill>
                <a:latin typeface="Arial"/>
              </a:rPr>
              <a:t> OHE top-10 + 'otros'.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50" b="1">
                <a:solidFill>
                  <a:srgbClr val="0F766E"/>
                </a:solidFill>
                <a:latin typeface="Arial"/>
              </a:rPr>
              <a:t>•  </a:t>
            </a:r>
            <a:r>
              <a:rPr sz="1350" b="0">
                <a:solidFill>
                  <a:srgbClr val="1D2433"/>
                </a:solidFill>
                <a:latin typeface="Arial"/>
              </a:rPr>
              <a:t>spoken_languages / production_countries / production_companies: multi-hot top-15 + 'otros'.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394960" cy="4023360"/>
          </a:xfrm>
          <a:prstGeom prst="roundRect">
            <a:avLst/>
          </a:prstGeom>
          <a:solidFill>
            <a:srgbClr val="FDF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74519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D97706"/>
                </a:solidFill>
                <a:latin typeface="Arial"/>
              </a:rPr>
              <a:t>Features e indicadores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514600"/>
            <a:ext cx="502920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50" b="1">
                <a:solidFill>
                  <a:srgbClr val="D97706"/>
                </a:solidFill>
                <a:latin typeface="Arial"/>
              </a:rPr>
              <a:t>•  </a:t>
            </a:r>
            <a:r>
              <a:rPr sz="1350" b="0">
                <a:solidFill>
                  <a:srgbClr val="1D2433"/>
                </a:solidFill>
                <a:latin typeface="Arial"/>
              </a:rPr>
              <a:t>Indicadores tiene_* (URLs, texto libre, finanzas).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50" b="1">
                <a:solidFill>
                  <a:srgbClr val="D97706"/>
                </a:solidFill>
                <a:latin typeface="Arial"/>
              </a:rPr>
              <a:t>•  </a:t>
            </a:r>
            <a:r>
              <a:rPr sz="1350" b="0">
                <a:solidFill>
                  <a:srgbClr val="1D2433"/>
                </a:solidFill>
                <a:latin typeface="Arial"/>
              </a:rPr>
              <a:t>Conteos n_* (géneros, idiomas, países, compañías, keywords).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50" b="1">
                <a:solidFill>
                  <a:srgbClr val="D97706"/>
                </a:solidFill>
                <a:latin typeface="Arial"/>
              </a:rPr>
              <a:t>•  </a:t>
            </a:r>
            <a:r>
              <a:rPr sz="1350" b="1">
                <a:solidFill>
                  <a:srgbClr val="1D2433"/>
                </a:solidFill>
                <a:latin typeface="Arial"/>
              </a:rPr>
              <a:t>Largos:</a:t>
            </a:r>
            <a:r>
              <a:rPr sz="1350" b="0">
                <a:solidFill>
                  <a:srgbClr val="1D2433"/>
                </a:solidFill>
                <a:latin typeface="Arial"/>
              </a:rPr>
              <a:t> title_length, len_overview, len_tagline.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50" b="1">
                <a:solidFill>
                  <a:srgbClr val="D97706"/>
                </a:solidFill>
                <a:latin typeface="Arial"/>
              </a:rPr>
              <a:t>•  </a:t>
            </a:r>
            <a:r>
              <a:rPr sz="1350" b="1">
                <a:solidFill>
                  <a:srgbClr val="1D2433"/>
                </a:solidFill>
                <a:latin typeface="Arial"/>
              </a:rPr>
              <a:t>Temporales:</a:t>
            </a:r>
            <a:r>
              <a:rPr sz="1350" b="0">
                <a:solidFill>
                  <a:srgbClr val="1D2433"/>
                </a:solidFill>
                <a:latin typeface="Arial"/>
              </a:rPr>
              <a:t> anio, decada, mes.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50" b="1">
                <a:solidFill>
                  <a:srgbClr val="D97706"/>
                </a:solidFill>
                <a:latin typeface="Arial"/>
              </a:rPr>
              <a:t>•  </a:t>
            </a:r>
            <a:r>
              <a:rPr sz="1350" b="1">
                <a:solidFill>
                  <a:srgbClr val="1D2433"/>
                </a:solidFill>
                <a:latin typeface="Arial"/>
              </a:rPr>
              <a:t>Anti-leakage:</a:t>
            </a:r>
            <a:r>
              <a:rPr sz="1350" b="0">
                <a:solidFill>
                  <a:srgbClr val="1D2433"/>
                </a:solidFill>
                <a:latin typeface="Arial"/>
              </a:rPr>
              <a:t> rankings top-N aprendidos solo en train; categorías no vistas en test → 'otros'.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943600"/>
            <a:ext cx="11064240" cy="6858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053328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F766E"/>
                </a:solidFill>
                <a:latin typeface="Arial"/>
              </a:rPr>
              <a:t>24 columnas crudas  →  93 features listas para modelar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