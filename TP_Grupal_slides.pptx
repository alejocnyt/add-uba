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7" r:id="rId8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2433"/>
                </a:solidFill>
                <a:latin typeface="Arial"/>
              </a:rPr>
              <a:t>EDA — TMDB Movies Dataset 2023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Análisis exploratorio y preparación de datos (Clases 3–4) · EDA puro, sin variable target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0F766E"/>
                </a:solidFill>
                <a:latin typeface="Arial"/>
              </a:rPr>
              <a:t>1.499.934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películas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7C3AED"/>
                </a:solidFill>
                <a:latin typeface="Arial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variables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97706"/>
                </a:solidFill>
                <a:latin typeface="Arial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géneros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399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79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475569"/>
                </a:solidFill>
                <a:latin typeface="Arial"/>
              </a:rPr>
              <a:t>6.16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79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rating prom.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91840"/>
            <a:ext cx="5394960" cy="3108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290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F766E"/>
                </a:solidFill>
                <a:latin typeface="Arial"/>
              </a:rPr>
              <a:t>El dataset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77639"/>
            <a:ext cx="50292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D2433"/>
                </a:solidFill>
                <a:latin typeface="Arial"/>
              </a:rPr>
              <a:t>TMDB Movies 2023 (fuente pública, Kaggle).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D2433"/>
                </a:solidFill>
                <a:latin typeface="Arial"/>
              </a:rPr>
              <a:t>Granularidad: 1 fila = 1 película, unidas por id.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D2433"/>
                </a:solidFill>
                <a:latin typeface="Arial"/>
              </a:rPr>
              <a:t>Numéricas: budget, revenue, runtime, votos, popularity.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D2433"/>
                </a:solidFill>
                <a:latin typeface="Arial"/>
              </a:rPr>
              <a:t>Categóricas: género, idioma, estado.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D2433"/>
                </a:solidFill>
                <a:latin typeface="Arial"/>
              </a:rPr>
              <a:t>genres: multivariado, coma-separado (1-a-muchos).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291840"/>
            <a:ext cx="5394960" cy="3108960"/>
          </a:xfrm>
          <a:prstGeom prst="round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290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D97706"/>
                </a:solidFill>
                <a:latin typeface="Arial"/>
              </a:rPr>
              <a:t>Desafíos a priori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50292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D2433"/>
                </a:solidFill>
                <a:latin typeface="Arial"/>
              </a:rPr>
              <a:t>Escala: 1,5 M de filas → cómputo vectorizado sobre el total.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D2433"/>
                </a:solidFill>
                <a:latin typeface="Arial"/>
              </a:rPr>
              <a:t>Nulos masivos: revenue 98%, budget 94%.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D2433"/>
                </a:solidFill>
                <a:latin typeface="Arial"/>
              </a:rPr>
              <a:t>Centinelas (0 / negativos) que codifican 'sin dato'.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D2433"/>
                </a:solidFill>
                <a:latin typeface="Arial"/>
              </a:rPr>
              <a:t>Fuerte presencia de outliers: colas largas en budget, revenue, vote_count y popularity (asimetría extrema).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2433"/>
                </a:solidFill>
                <a:latin typeface="Arial"/>
              </a:rPr>
              <a:t>Calidad de datos: faltantes y su mecanismo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Centinelas (0 / negativos) marcados como NaN antes de analizar</a:t>
            </a:r>
          </a:p>
        </p:txBody>
      </p:sp>
      <p:pic>
        <p:nvPicPr>
          <p:cNvPr id="5" name="Picture 4" descr="nul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459935"/>
            <a:ext cx="5486400" cy="312684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92240" y="1737360"/>
            <a:ext cx="5212080" cy="4572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8745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0F766E"/>
                </a:solidFill>
                <a:latin typeface="Arial"/>
              </a:rPr>
              <a:t>Mecanismos de faltantes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4688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1D2433"/>
                </a:solidFill>
                <a:latin typeface="Arial"/>
              </a:rPr>
              <a:t>runtime ~32%: MCAR/MAR → imputable por mediana (fit en train).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1D2433"/>
                </a:solidFill>
                <a:latin typeface="Arial"/>
              </a:rPr>
              <a:t>budget 94% / revenue 98%: estructural → no se imputan; se agrega indicador tiene_budget / tiene_revenue.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1D2433"/>
                </a:solidFill>
                <a:latin typeface="Arial"/>
              </a:rPr>
              <a:t>vote_average 76%: falta exactamente cuando vote_count = 0 (estructural).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1D2433"/>
                </a:solidFill>
                <a:latin typeface="Arial"/>
              </a:rPr>
              <a:t>genres 45%: se marca con categoría propia 'SIN_GÉNERO'.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1D2433"/>
                </a:solidFill>
                <a:latin typeface="Arial"/>
              </a:rPr>
              <a:t>Regla &gt;70% nulos → no se imputa la columna.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2433"/>
                </a:solidFill>
                <a:latin typeface="Arial"/>
              </a:rPr>
              <a:t>Asociaciones y pruebas de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Asociación, no causalidad · Pearson (lineal) y Spearman (monótona) · α = 0.05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737360"/>
            <a:ext cx="5212080" cy="4572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874519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D97706"/>
                </a:solidFill>
                <a:latin typeface="Arial"/>
              </a:rPr>
              <a:t>Pruebas de hipótesis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468880"/>
            <a:ext cx="48463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>
                <a:solidFill>
                  <a:srgbClr val="1D2433"/>
                </a:solidFill>
                <a:latin typeface="Arial"/>
              </a:rPr>
              <a:t>H0: r = 0 (sin asociación) · H1: r ≠ 0.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1D2433"/>
                </a:solidFill>
                <a:latin typeface="Arial"/>
              </a:rPr>
              <a:t>Los 5 pares dan p &lt; 0.001 (≪ α): se rechaza H0 en todos → asociación estadísticamente significativa.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1D2433"/>
                </a:solidFill>
                <a:latin typeface="Arial"/>
              </a:rPr>
              <a:t>La más fuerte: budget–revenue (Spearman 0.90, Pearson 0.56: la asimetría hace que Pearson la subestime).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1D2433"/>
                </a:solidFill>
                <a:latin typeface="Arial"/>
              </a:rPr>
              <a:t>t-test género→vote_average: p ≈ 0 → los documentales puntúan más alto (6.76 vs 6.06).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1D2433"/>
                </a:solidFill>
                <a:latin typeface="Arial"/>
              </a:rPr>
              <a:t>Significación estadística ≠ causalidad.</a:t>
            </a:r>
          </a:p>
        </p:txBody>
      </p:sp>
      <p:pic>
        <p:nvPicPr>
          <p:cNvPr id="9" name="Picture 8" descr="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0200"/>
            <a:ext cx="5760720" cy="2391898"/>
          </a:xfrm>
          <a:prstGeom prst="rect">
            <a:avLst/>
          </a:prstGeom>
        </p:spPr>
      </p:pic>
      <p:pic>
        <p:nvPicPr>
          <p:cNvPr id="10" name="Picture 9" descr="tes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14800"/>
            <a:ext cx="5760720" cy="1672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D2433"/>
                </a:solidFill>
                <a:latin typeface="Arial"/>
              </a:rPr>
              <a:t>Géneros y 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475669"/>
                </a:solidFill>
                <a:latin typeface="Arial"/>
              </a:rPr>
              <a:t>k = 19 géneros · diversidad alta (H/H_max = 0.86)</a:t>
            </a:r>
          </a:p>
        </p:txBody>
      </p:sp>
      <p:pic>
        <p:nvPicPr>
          <p:cNvPr id="5" name="Picture 4" descr="gene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4846320" cy="2654497"/>
          </a:xfrm>
          <a:prstGeom prst="rect">
            <a:avLst/>
          </a:prstGeom>
        </p:spPr>
      </p:pic>
      <p:pic>
        <p:nvPicPr>
          <p:cNvPr id="6" name="Picture 5" descr="remov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297680"/>
            <a:ext cx="5760720" cy="17929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92240" y="1737360"/>
            <a:ext cx="5212080" cy="4572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8745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0F766E"/>
                </a:solidFill>
                <a:latin typeface="Arial"/>
              </a:rPr>
              <a:t>Conclusiones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2468880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D2433"/>
                </a:solidFill>
                <a:latin typeface="Arial"/>
              </a:rPr>
              <a:t>Géneros diversos: top Drama, Documentary, Comedy; ninguno domina.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D2433"/>
                </a:solidFill>
                <a:latin typeface="Arial"/>
              </a:rPr>
              <a:t>Faltantes estructurales dominados por finanzas (budget / revenue).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D2433"/>
                </a:solidFill>
                <a:latin typeface="Arial"/>
              </a:rPr>
              <a:t>Preparación anti-leakage: split 80/20, imputación fit-en-train, log1p / capping de outliers.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D2433"/>
                </a:solidFill>
                <a:latin typeface="Arial"/>
              </a:rPr>
              <a:t>185 registros con valores imposibles eliminados: finanzas fuera de rango o fechas erróneas (ver tabla).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D2433"/>
                </a:solidFill>
                <a:latin typeface="Arial"/>
              </a:rPr>
              <a:t>Géneros codificados multi-hot (una película, varios géneros).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